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hyperlink" Target="https://mavenanalytics.io/data-playground/global-electronics-retailer" TargetMode="External"/><Relationship Id="rId9" Type="http://schemas.openxmlformats.org/officeDocument/2006/relationships/image" Target="../media/image9.png"/><Relationship Id="rId5" Type="http://schemas.openxmlformats.org/officeDocument/2006/relationships/hyperlink" Target="https://mavenanalytics.io/data-playground/global-electronics-retailer" TargetMode="External"/><Relationship Id="rId6" Type="http://schemas.openxmlformats.org/officeDocument/2006/relationships/image" Target="../media/image10.png"/><Relationship Id="rId7" Type="http://schemas.openxmlformats.org/officeDocument/2006/relationships/hyperlink" Target="https://github.com/yyalvaradoa-debug" TargetMode="External"/><Relationship Id="rId8" Type="http://schemas.openxmlformats.org/officeDocument/2006/relationships/hyperlink" Target="https://github.com/yyalvaradoa-debu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hyperlink" Target="mailto:yyalvaradoa@gmail.com" TargetMode="External"/><Relationship Id="rId5" Type="http://schemas.openxmlformats.org/officeDocument/2006/relationships/hyperlink" Target="mailto:yyalvaradoa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4206240"/>
            <a:ext cx="4754880" cy="4754880"/>
          </a:xfrm>
          <a:prstGeom prst="ellipse">
            <a:avLst/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698480" y="5212080"/>
            <a:ext cx="2743200" cy="2743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ELECTRONICS RETAIL  ·  DATA ANALYTICS CASE STUDY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77240" y="1874520"/>
            <a:ext cx="9692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Sales and Revenue Trends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77240" y="260604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2016 – 2020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3520440"/>
            <a:ext cx="6949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An analysis of sales performance, store performance, and customer trends across the Global Electronics Retailer network.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822960" y="5074920"/>
            <a:ext cx="4754880" cy="0"/>
          </a:xfrm>
          <a:prstGeom prst="straightConnector1">
            <a:avLst/>
          </a:prstGeom>
          <a:noFill/>
          <a:ln cap="flat" cmpd="sng" w="12700">
            <a:solidFill>
              <a:srgbClr val="294A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822960" y="525780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Yisel Alvarado Ayala</a:t>
            </a:r>
            <a:r>
              <a:rPr b="0" i="0" lang="en-US" sz="1300" u="none" cap="none" strike="noStrike">
                <a:solidFill>
                  <a:srgbClr val="5B769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56692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2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8FA8C2"/>
                </a:solidFill>
                <a:latin typeface="Calibri"/>
                <a:ea typeface="Calibri"/>
                <a:cs typeface="Calibri"/>
                <a:sym typeface="Calibri"/>
              </a:rPr>
              <a:t>Portfolio Project  · 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30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About the Company &amp; Analysis Goals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1600200"/>
            <a:ext cx="5029200" cy="4434840"/>
          </a:xfrm>
          <a:prstGeom prst="roundRect">
            <a:avLst>
              <a:gd fmla="val 1649" name="adj"/>
            </a:avLst>
          </a:prstGeom>
          <a:solidFill>
            <a:srgbClr val="E8F1F8"/>
          </a:solidFill>
          <a:ln>
            <a:noFill/>
          </a:ln>
          <a:effectLst>
            <a:outerShdw blurRad="101600" rotWithShape="0" algn="bl" dir="5400000" dist="25400">
              <a:srgbClr val="0B2545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76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1691640" y="199339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Cambria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About the Company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60125" y="2619187"/>
            <a:ext cx="44349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Global Electronics Retailer is a fictional global company specializing in electronic devices, home appliances, and technology solutions. It operates both online and through physical stores worldwide.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4"/>
          <p:cNvCxnSpPr/>
          <p:nvPr/>
        </p:nvCxnSpPr>
        <p:spPr>
          <a:xfrm>
            <a:off x="960120" y="4160520"/>
            <a:ext cx="4434840" cy="0"/>
          </a:xfrm>
          <a:prstGeom prst="straightConnector1">
            <a:avLst/>
          </a:prstGeom>
          <a:noFill/>
          <a:ln cap="flat" cmpd="sng" w="12700">
            <a:solidFill>
              <a:srgbClr val="D5E0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4"/>
          <p:cNvSpPr/>
          <p:nvPr/>
        </p:nvSpPr>
        <p:spPr>
          <a:xfrm>
            <a:off x="1051460" y="4343400"/>
            <a:ext cx="788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50+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960120" y="4864608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Stores worldwide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194551" y="4356448"/>
            <a:ext cx="1719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2016–2020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194552" y="4864600"/>
            <a:ext cx="160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Years analyzed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47784" y="4343400"/>
            <a:ext cx="654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343400" y="4864608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Analysis goals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989320" y="1627632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Cambria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Analysis Goals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989320" y="2240280"/>
            <a:ext cx="566928" cy="566928"/>
          </a:xfrm>
          <a:prstGeom prst="ellipse">
            <a:avLst/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6721" y="238768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6784848" y="225856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Calibri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Sales Performance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784848" y="262432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Identify and understand sales performance across product categories.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989320" y="3538728"/>
            <a:ext cx="566928" cy="566928"/>
          </a:xfrm>
          <a:prstGeom prst="ellipse">
            <a:avLst/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36721" y="36861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6784848" y="3557016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Calibri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Store Performance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784848" y="392277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Evaluate store performance across the global retail network.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989320" y="4837176"/>
            <a:ext cx="566928" cy="566928"/>
          </a:xfrm>
          <a:prstGeom prst="ellipse">
            <a:avLst/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6721" y="498457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6784848" y="485546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Calibri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Customer Trends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784848" y="5221224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Identify customer and sales trends over time from 2016 to 2020.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57200" y="6547104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1B5"/>
              </a:buClr>
              <a:buSzPts val="800"/>
              <a:buFont typeface="Calibri"/>
              <a:buNone/>
            </a:pPr>
            <a:r>
              <a:rPr b="0" i="0" lang="en-US" sz="1300" u="none" cap="none" strike="noStrike">
                <a:solidFill>
                  <a:srgbClr val="8FA1B5"/>
                </a:solidFill>
                <a:latin typeface="Calibri"/>
                <a:ea typeface="Calibri"/>
                <a:cs typeface="Calibri"/>
                <a:sym typeface="Calibri"/>
              </a:rPr>
              <a:t>GLOBAL ELECTRONICS RETAILER  ·  SALES &amp; REVENUE ANALYSIS 2016–2020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338560" y="654710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1B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FA1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30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Process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" y="12070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A structured, cloud-based workflow was used to collect, store, query, and visualize the data.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" y="1920240"/>
            <a:ext cx="2084832" cy="4160520"/>
          </a:xfrm>
          <a:prstGeom prst="roundRect">
            <a:avLst>
              <a:gd fmla="val 3070" name="adj"/>
            </a:avLst>
          </a:prstGeom>
          <a:solidFill>
            <a:srgbClr val="E8F1F8"/>
          </a:solidFill>
          <a:ln cap="flat" cmpd="sng" w="12700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B2545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804672" y="208483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E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7D6E3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011680" y="210312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0552" y="22219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804672" y="2697480"/>
            <a:ext cx="17556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Download Dataset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04672" y="3337560"/>
            <a:ext cx="1755648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08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Downloaded the Global Electronics Retailer dataset from Maven Analytics.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706624" y="37719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9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9C9D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889504" y="1920240"/>
            <a:ext cx="2084832" cy="4160520"/>
          </a:xfrm>
          <a:prstGeom prst="roundRect">
            <a:avLst>
              <a:gd fmla="val 3070" name="adj"/>
            </a:avLst>
          </a:prstGeom>
          <a:solidFill>
            <a:srgbClr val="FFFFFF"/>
          </a:solidFill>
          <a:ln cap="flat" cmpd="sng" w="12700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B2545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054096" y="208483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E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7D6E3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261104" y="210312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9976" y="22219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3054096" y="2697480"/>
            <a:ext cx="17556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Azure SQL Setup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054096" y="3337560"/>
            <a:ext cx="1755648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08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Created the Azure SQL Database using the Azure for Students free tier and built all tables using the Query Editor.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956048" y="37719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9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9C9D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138928" y="1920240"/>
            <a:ext cx="2084832" cy="4160520"/>
          </a:xfrm>
          <a:prstGeom prst="roundRect">
            <a:avLst>
              <a:gd fmla="val 3070" name="adj"/>
            </a:avLst>
          </a:prstGeom>
          <a:solidFill>
            <a:srgbClr val="E8F1F8"/>
          </a:solidFill>
          <a:ln cap="flat" cmpd="sng" w="12700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B2545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303520" y="208483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E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7D6E3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510528" y="210312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22219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5303520" y="2697480"/>
            <a:ext cx="17556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Load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303520" y="3337560"/>
            <a:ext cx="1755648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080"/>
              <a:buFont typeface="Calibri"/>
              <a:buNone/>
            </a:pPr>
            <a:r>
              <a:rPr b="0" i="0" lang="en-US" sz="155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Loaded CSV data using a custom Python script (load_data.py) with the pyodbc library, then exported the database as a .bacpac backup.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205472" y="37719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9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9C9D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388352" y="1920240"/>
            <a:ext cx="2084832" cy="4160520"/>
          </a:xfrm>
          <a:prstGeom prst="roundRect">
            <a:avLst>
              <a:gd fmla="val 3070" name="adj"/>
            </a:avLst>
          </a:prstGeom>
          <a:solidFill>
            <a:srgbClr val="FFFFFF"/>
          </a:solidFill>
          <a:ln cap="flat" cmpd="sng" w="12700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B2545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552944" y="208483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E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7D6E3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759952" y="210312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78824" y="22219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7552944" y="2697480"/>
            <a:ext cx="17556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Connect &amp; Query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455882" y="3311454"/>
            <a:ext cx="1891800" cy="26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080"/>
              <a:buFont typeface="Calibri"/>
              <a:buNone/>
            </a:pPr>
            <a:r>
              <a:rPr b="0" i="0" lang="en-US" sz="155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Connected Azure SQL to VS Code using the mssql and DBCode extensions, then wrote 12 T-SQL queries across three analysis goals.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9454896" y="37719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9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9C9D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9637776" y="1920240"/>
            <a:ext cx="2084832" cy="4160520"/>
          </a:xfrm>
          <a:prstGeom prst="roundRect">
            <a:avLst>
              <a:gd fmla="val 3070" name="adj"/>
            </a:avLst>
          </a:prstGeom>
          <a:solidFill>
            <a:srgbClr val="E8F1F8"/>
          </a:solidFill>
          <a:ln cap="flat" cmpd="sng" w="12700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B2545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9802368" y="208483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E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7D6E3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1009376" y="210312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28248" y="22219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9697991" y="2671379"/>
            <a:ext cx="199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Visualize &amp; Collaborate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9802368" y="3337560"/>
            <a:ext cx="1755648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08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Built visualizations using DBCode's charting feature and collaborated via GitHub with a shared repository.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57200" y="6547104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1B5"/>
              </a:buClr>
              <a:buSzPts val="800"/>
              <a:buFont typeface="Calibri"/>
              <a:buNone/>
            </a:pPr>
            <a:r>
              <a:rPr b="0" i="0" lang="en-US" sz="1300" u="none" cap="none" strike="noStrike">
                <a:solidFill>
                  <a:srgbClr val="8FA1B5"/>
                </a:solidFill>
                <a:latin typeface="Calibri"/>
                <a:ea typeface="Calibri"/>
                <a:cs typeface="Calibri"/>
                <a:sym typeface="Calibri"/>
              </a:rPr>
              <a:t>GLOBAL ELECTRONICS RETAILER  ·  SALES &amp; REVENUE ANALYSIS 2016–2020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1338560" y="654710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1B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FA1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8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640080" y="4114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ANALYSIS &amp; FINDINGS  ·  1 OF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30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Sales Performance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40080" y="1600200"/>
            <a:ext cx="3566160" cy="4434840"/>
          </a:xfrm>
          <a:prstGeom prst="roundRect">
            <a:avLst>
              <a:gd fmla="val 2051" name="adj"/>
            </a:avLst>
          </a:prstGeom>
          <a:solidFill>
            <a:srgbClr val="0B2545"/>
          </a:solidFill>
          <a:ln>
            <a:noFill/>
          </a:ln>
          <a:effectLst>
            <a:outerShdw blurRad="101600" rotWithShape="0" algn="bl" dir="5400000" dist="38100">
              <a:srgbClr val="0B254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521" y="206764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914400" y="2697480"/>
            <a:ext cx="2743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6400"/>
              <a:buFont typeface="Cambria"/>
              <a:buNone/>
            </a:pPr>
            <a:r>
              <a:rPr b="1" i="0" lang="en-US" sz="64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960120" y="3696848"/>
            <a:ext cx="2926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CE7F1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DCE7F1"/>
                </a:solidFill>
                <a:latin typeface="Calibri"/>
                <a:ea typeface="Calibri"/>
                <a:cs typeface="Calibri"/>
                <a:sym typeface="Calibri"/>
              </a:rPr>
              <a:t>“Silent killer” products identified — high volume but ranked outside the top 20 on profit.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6"/>
          <p:cNvCxnSpPr/>
          <p:nvPr/>
        </p:nvCxnSpPr>
        <p:spPr>
          <a:xfrm>
            <a:off x="960120" y="5088072"/>
            <a:ext cx="2926200" cy="0"/>
          </a:xfrm>
          <a:prstGeom prst="straightConnector1">
            <a:avLst/>
          </a:prstGeom>
          <a:noFill/>
          <a:ln cap="flat" cmpd="sng" w="12700">
            <a:solidFill>
              <a:srgbClr val="294A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6"/>
          <p:cNvSpPr/>
          <p:nvPr/>
        </p:nvSpPr>
        <p:spPr>
          <a:xfrm>
            <a:off x="960120" y="5310096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FC4D6"/>
              </a:buClr>
              <a:buSzPts val="1100"/>
              <a:buFont typeface="Calibri"/>
              <a:buNone/>
            </a:pPr>
            <a:r>
              <a:rPr b="0" i="1" lang="en-US" u="none" cap="none" strike="noStrike">
                <a:solidFill>
                  <a:srgbClr val="9FC4D6"/>
                </a:solidFill>
                <a:latin typeface="Calibri"/>
                <a:ea typeface="Calibri"/>
                <a:cs typeface="Calibri"/>
                <a:sym typeface="Calibri"/>
              </a:rPr>
              <a:t>Pricing on these SKUs is the fastest lever for margin recovery.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480560" y="1600200"/>
            <a:ext cx="7040880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25400">
              <a:srgbClr val="0B2545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754880" y="1892808"/>
            <a:ext cx="530400" cy="530400"/>
          </a:xfrm>
          <a:prstGeom prst="ellipse">
            <a:avLst/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772" y="2030700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5486400" y="182880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Home Appliances lead profitability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08112" y="2222096"/>
            <a:ext cx="576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25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Home Appliances lead average profit per unit despite not being the highest-volume category.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480560" y="3611880"/>
            <a:ext cx="7040880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25400">
              <a:srgbClr val="0B2545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754880" y="3904488"/>
            <a:ext cx="530352" cy="530352"/>
          </a:xfrm>
          <a:prstGeom prst="ellipse">
            <a:avLst/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772" y="4042380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5486400" y="384048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Computers &amp; Cell Phones: high volume, mid-tier margin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486400" y="4259872"/>
            <a:ext cx="576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25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These categories sell the most units but rank mid-tier on profitability — volume isn't translating into proportional profit.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57200" y="6547104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1B5"/>
              </a:buClr>
              <a:buSzPts val="800"/>
              <a:buFont typeface="Calibri"/>
              <a:buNone/>
            </a:pPr>
            <a:r>
              <a:rPr b="0" i="0" lang="en-US" sz="1300" u="none" cap="none" strike="noStrike">
                <a:solidFill>
                  <a:srgbClr val="8FA1B5"/>
                </a:solidFill>
                <a:latin typeface="Calibri"/>
                <a:ea typeface="Calibri"/>
                <a:cs typeface="Calibri"/>
                <a:sym typeface="Calibri"/>
              </a:rPr>
              <a:t>GLOBAL ELECTRONICS RETAILER  ·  SALES &amp; REVENUE ANALYSIS 2016–2020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1338560" y="654710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1B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FA1B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640080" y="4114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ANALYSIS &amp; FINDINGS  ·  2 OF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30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Store Performance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0080" y="1600200"/>
            <a:ext cx="3429000" cy="1371600"/>
          </a:xfrm>
          <a:prstGeom prst="roundRect">
            <a:avLst>
              <a:gd fmla="val 5333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868680" y="169164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68680" y="254203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High Performers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251960" y="1600200"/>
            <a:ext cx="3429000" cy="1371600"/>
          </a:xfrm>
          <a:prstGeom prst="roundRect">
            <a:avLst>
              <a:gd fmla="val 5333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480560" y="169164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480560" y="254203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Medium Performers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863840" y="1600200"/>
            <a:ext cx="3429000" cy="1371600"/>
          </a:xfrm>
          <a:prstGeom prst="roundRect">
            <a:avLst>
              <a:gd fmla="val 5333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8092440" y="169164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32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092440" y="254203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Low Performers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0080" y="3246120"/>
            <a:ext cx="5349240" cy="278892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 cap="flat" cmpd="sng" w="12700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B2545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914400" y="3520440"/>
            <a:ext cx="548640" cy="5486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046" y="36630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914400" y="420624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5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Revenue concentrated in North America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14400" y="4709160"/>
            <a:ext cx="4800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Top revenue stores are concentrated in Canada and the United States, while European stores consistently underperform by comparison.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172200" y="3246120"/>
            <a:ext cx="5349240" cy="278892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 cap="flat" cmpd="sng" w="12700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B2545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446520" y="3520440"/>
            <a:ext cx="548640" cy="5486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9166" y="36630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6446520" y="420624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5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Size doesn't predict revenue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446520" y="4709160"/>
            <a:ext cx="4800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Store size does not strongly correlate with revenue — Wyoming has only 840 sq m but ranks #14 in total revenue network-wide.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57200" y="6547104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1B5"/>
              </a:buClr>
              <a:buSzPts val="800"/>
              <a:buFont typeface="Calibri"/>
              <a:buNone/>
            </a:pPr>
            <a:r>
              <a:rPr b="0" i="0" lang="en-US" sz="1300" u="none" cap="none" strike="noStrike">
                <a:solidFill>
                  <a:srgbClr val="8FA1B5"/>
                </a:solidFill>
                <a:latin typeface="Calibri"/>
                <a:ea typeface="Calibri"/>
                <a:cs typeface="Calibri"/>
                <a:sym typeface="Calibri"/>
              </a:rPr>
              <a:t>GLOBAL ELECTRONICS RETAILER  ·  SALES &amp; REVENUE ANALYSIS 2016–2020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1338560" y="654710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1B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FA1B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8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640080" y="4114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ANALYSIS &amp; FINDINGS  ·  3 OF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30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Trends Over Time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40080" y="1600200"/>
            <a:ext cx="6035040" cy="4434840"/>
          </a:xfrm>
          <a:prstGeom prst="roundRect">
            <a:avLst>
              <a:gd fmla="val 1649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25400">
              <a:srgbClr val="0B2545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914400" y="1783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Illustrative Monthly Sales Pattern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194560"/>
            <a:ext cx="5486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6995160" y="1561056"/>
            <a:ext cx="502800" cy="5028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5919" y="1691815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7635240" y="1561056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Seasonal peaks and dips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635240" y="1945104"/>
            <a:ext cx="3931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Sales peak in January and February, drop sharply in March–April, then stabilize with a December uptick.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995160" y="3102384"/>
            <a:ext cx="502800" cy="5028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5919" y="3233143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7635240" y="3102384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Concentrated customer base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7635240" y="3486432"/>
            <a:ext cx="3931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The customer base is concentrated in a handful of countries rather than spread evenly worldwide.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995160" y="4617616"/>
            <a:ext cx="502800" cy="5028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25919" y="4748375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7635240" y="4617616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Year-over-year growth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635240" y="5001664"/>
            <a:ext cx="3931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Year-over-year unit growth shows the business is expanding overall despite seasonal volatility.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57200" y="6547104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1B5"/>
              </a:buClr>
              <a:buSzPts val="800"/>
              <a:buFont typeface="Calibri"/>
              <a:buNone/>
            </a:pPr>
            <a:r>
              <a:rPr b="0" i="0" lang="en-US" sz="1300" u="none" cap="none" strike="noStrike">
                <a:solidFill>
                  <a:srgbClr val="8FA1B5"/>
                </a:solidFill>
                <a:latin typeface="Calibri"/>
                <a:ea typeface="Calibri"/>
                <a:cs typeface="Calibri"/>
                <a:sym typeface="Calibri"/>
              </a:rPr>
              <a:t>GLOBAL ELECTRONICS RETAILER  ·  SALES &amp; REVENUE ANALYSIS 2016–2020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1338560" y="654710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1B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FA1B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CONCLUSION &amp; RECOMMENDATIONS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0075" y="803325"/>
            <a:ext cx="11119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company is profitable and growing - but there are clear optimization opportunities that can accelerate performance further.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40080" y="1691640"/>
            <a:ext cx="2670048" cy="4206240"/>
          </a:xfrm>
          <a:prstGeom prst="roundRect">
            <a:avLst>
              <a:gd fmla="val 2740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868680" y="2606040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9C4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7FA9C4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868680" y="2898648"/>
            <a:ext cx="22128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Reprice silent-killer products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868680" y="3657600"/>
            <a:ext cx="2212848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150"/>
              <a:buFont typeface="Calibri"/>
              <a:buNone/>
            </a:pPr>
            <a:r>
              <a:rPr b="0" i="0" lang="en-US" sz="16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Reevaluate pricing on silent-killer products — small margin gains compound fast at high volume.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456432" y="1691640"/>
            <a:ext cx="2670048" cy="4206240"/>
          </a:xfrm>
          <a:prstGeom prst="roundRect">
            <a:avLst>
              <a:gd fmla="val 2740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685032" y="1965960"/>
            <a:ext cx="502920" cy="50292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3685032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3685032" y="2606040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9C4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7FA9C4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685032" y="2898648"/>
            <a:ext cx="22128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Replicate top-store practices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685032" y="3657600"/>
            <a:ext cx="2212848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150"/>
              <a:buFont typeface="Calibri"/>
              <a:buNone/>
            </a:pPr>
            <a:r>
              <a:rPr b="0" i="0" lang="en-US" sz="16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Study what makes top-performing stores successful and apply those lessons to Low Performer locations.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272784" y="1691640"/>
            <a:ext cx="2670048" cy="4206240"/>
          </a:xfrm>
          <a:prstGeom prst="roundRect">
            <a:avLst>
              <a:gd fmla="val 2740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6501384" y="1965960"/>
            <a:ext cx="502920" cy="50292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6501384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501384" y="2606040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9C4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7FA9C4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501384" y="2898648"/>
            <a:ext cx="22128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Align spend with seasonality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501375" y="3657600"/>
            <a:ext cx="23997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150"/>
              <a:buFont typeface="Calibri"/>
              <a:buNone/>
            </a:pPr>
            <a:r>
              <a:rPr b="0" i="0" lang="en-US" sz="16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Align marketing budget with seasonal peaks — concentrate promotions around January/February and December.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9089136" y="1691640"/>
            <a:ext cx="2670048" cy="4206240"/>
          </a:xfrm>
          <a:prstGeom prst="roundRect">
            <a:avLst>
              <a:gd fmla="val 2740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9317736" y="1965960"/>
            <a:ext cx="502920" cy="50292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17736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9317736" y="2606040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9C4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7FA9C4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9317736" y="2898648"/>
            <a:ext cx="22128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Expand in underserved markets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9317736" y="3657600"/>
            <a:ext cx="2212848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150"/>
              <a:buFont typeface="Calibri"/>
              <a:buNone/>
            </a:pPr>
            <a:r>
              <a:rPr b="0" i="0" lang="en-US" sz="16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Expand in underserved, high-population countries where customer count is low relative to market size.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57200" y="6547104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2"/>
              </a:buClr>
              <a:buSzPts val="800"/>
              <a:buFont typeface="Calibri"/>
              <a:buNone/>
            </a:pPr>
            <a:r>
              <a:rPr b="0" i="0" lang="en-US" sz="1300" u="none" cap="none" strike="noStrike">
                <a:solidFill>
                  <a:srgbClr val="8FA8C2"/>
                </a:solidFill>
                <a:latin typeface="Calibri"/>
                <a:ea typeface="Calibri"/>
                <a:cs typeface="Calibri"/>
                <a:sym typeface="Calibri"/>
              </a:rPr>
              <a:t>GLOBAL ELECTRONICS RETAILER  ·  SALES &amp; REVENUE ANALYSIS 2016–2020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11338560" y="654710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C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FA8C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30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Data, Tools &amp; Acknowledgements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40080" y="1691640"/>
            <a:ext cx="5212080" cy="1554480"/>
          </a:xfrm>
          <a:prstGeom prst="roundRect">
            <a:avLst>
              <a:gd fmla="val 4706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159" y="207843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1600200" y="19202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521912" y="2241616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Maven Analytics — Global Electronics Retailer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>
            <a:hlinkClick r:id="rId4"/>
          </p:cNvPr>
          <p:cNvSpPr/>
          <p:nvPr/>
        </p:nvSpPr>
        <p:spPr>
          <a:xfrm>
            <a:off x="1070975" y="2697475"/>
            <a:ext cx="440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0" i="0" lang="en-US" sz="1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mavenanalytics.io/data-playground/global-electronics-retailer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080760" y="1691640"/>
            <a:ext cx="5440680" cy="1554480"/>
          </a:xfrm>
          <a:prstGeom prst="roundRect">
            <a:avLst>
              <a:gd fmla="val 4706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6355080" y="1947672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5839" y="207843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/>
          <p:nvPr/>
        </p:nvSpPr>
        <p:spPr>
          <a:xfrm>
            <a:off x="7040880" y="192024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GitHub Repository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988688" y="2267712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C6B"/>
              </a:buClr>
              <a:buSzPts val="1100"/>
              <a:buFont typeface="Calibri"/>
              <a:buNone/>
            </a:pPr>
            <a:r>
              <a:rPr b="0" i="0" lang="en-US" sz="1600" u="none" cap="none" strike="noStrike">
                <a:solidFill>
                  <a:srgbClr val="4A5C6B"/>
                </a:solidFill>
                <a:latin typeface="Calibri"/>
                <a:ea typeface="Calibri"/>
                <a:cs typeface="Calibri"/>
                <a:sym typeface="Calibri"/>
              </a:rPr>
              <a:t>Shared project repository for collaboration, version control, and code sharing.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>
            <a:hlinkClick r:id="rId7"/>
          </p:cNvPr>
          <p:cNvSpPr/>
          <p:nvPr/>
        </p:nvSpPr>
        <p:spPr>
          <a:xfrm>
            <a:off x="6550799" y="2834640"/>
            <a:ext cx="484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0" i="0" lang="en-US" sz="1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github.com/yyalvaradoa-debug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40080" y="3474720"/>
            <a:ext cx="10881360" cy="2514600"/>
          </a:xfrm>
          <a:prstGeom prst="roundRect">
            <a:avLst>
              <a:gd fmla="val 2909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914400" y="3730752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5159" y="386151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/>
          <p:nvPr/>
        </p:nvSpPr>
        <p:spPr>
          <a:xfrm>
            <a:off x="1600200" y="3703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Tools &amp; Assistance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914400" y="434340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Google Gemini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914400" y="4681728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150"/>
              <a:buFont typeface="Calibri"/>
              <a:buNone/>
            </a:pPr>
            <a:r>
              <a:rPr b="0" i="0" lang="en-US" sz="16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Assistance with documentation.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343400" y="434340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Claude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343400" y="4681728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150"/>
              <a:buFont typeface="Calibri"/>
              <a:buNone/>
            </a:pPr>
            <a:r>
              <a:rPr b="0" i="0" lang="en-US" sz="16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Assistance with Python script and query structure.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7772400" y="434340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Google Slides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7772400" y="4681728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9E8"/>
              </a:buClr>
              <a:buSzPts val="1150"/>
              <a:buFont typeface="Calibri"/>
              <a:buNone/>
            </a:pPr>
            <a:r>
              <a:rPr b="0" i="0" lang="en-US" sz="1600" u="none" cap="none" strike="noStrike">
                <a:solidFill>
                  <a:srgbClr val="C9D9E8"/>
                </a:solidFill>
                <a:latin typeface="Calibri"/>
                <a:ea typeface="Calibri"/>
                <a:cs typeface="Calibri"/>
                <a:sym typeface="Calibri"/>
              </a:rPr>
              <a:t>Original presentation tool used for this slide deck.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6547104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1B5"/>
              </a:buClr>
              <a:buSzPts val="800"/>
              <a:buFont typeface="Calibri"/>
              <a:buNone/>
            </a:pPr>
            <a:r>
              <a:rPr b="0" i="0" lang="en-US" sz="1300" u="none" cap="none" strike="noStrike">
                <a:solidFill>
                  <a:srgbClr val="8FA1B5"/>
                </a:solidFill>
                <a:latin typeface="Calibri"/>
                <a:ea typeface="Calibri"/>
                <a:cs typeface="Calibri"/>
                <a:sym typeface="Calibri"/>
              </a:rPr>
              <a:t>GLOBAL ELECTRONICS RETAILER  ·  SALES &amp; REVENUE ANALYSIS 2016–2020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1338560" y="654710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1B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FA1B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9875520" y="-457200"/>
            <a:ext cx="2560320" cy="2560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822960" y="22860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68680" y="32461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4D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FC4D6"/>
                </a:solidFill>
                <a:latin typeface="Calibri"/>
                <a:ea typeface="Calibri"/>
                <a:cs typeface="Calibri"/>
                <a:sym typeface="Calibri"/>
              </a:rPr>
              <a:t>Questions are welcome.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1"/>
          <p:cNvCxnSpPr/>
          <p:nvPr/>
        </p:nvCxnSpPr>
        <p:spPr>
          <a:xfrm>
            <a:off x="868680" y="3977640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294A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1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" y="43708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"/>
          <p:cNvSpPr/>
          <p:nvPr/>
        </p:nvSpPr>
        <p:spPr>
          <a:xfrm>
            <a:off x="1463040" y="42611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2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8FA8C2"/>
                </a:solidFill>
                <a:latin typeface="Calibri"/>
                <a:ea typeface="Calibri"/>
                <a:cs typeface="Calibri"/>
                <a:sym typeface="Calibri"/>
              </a:rPr>
              <a:t>Contact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>
            <a:hlinkClick r:id="rId4"/>
          </p:cNvPr>
          <p:cNvSpPr/>
          <p:nvPr/>
        </p:nvSpPr>
        <p:spPr>
          <a:xfrm>
            <a:off x="1463040" y="449884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yyalvaradoa@gmail.com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463049" y="4818875"/>
            <a:ext cx="199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9A8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6B89A8"/>
                </a:solidFill>
                <a:latin typeface="Calibri"/>
                <a:ea typeface="Calibri"/>
                <a:cs typeface="Calibri"/>
                <a:sym typeface="Calibri"/>
              </a:rPr>
              <a:t>Yisel Alvarado Ayala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